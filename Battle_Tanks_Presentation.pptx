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1-1.5 min. Problem: base RV32I has no hardware multiply/divide; our game needs cos/sin x speed and bullet reflection. System: CPU runs game rules in C, everything per-pixel / per-cycle is hardware. Our modification is the RV32M unit. Commitment = must-have; Goal = planned; Stretch = only if time remains.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Left to right: CPU with three stages IF/ID, EX, WB. Red block = our modification: RV32M unit attached to EX. When a divide runs, it raises pipeline_stall and freezes the front of the pipeline; write-back forwarding feeds results back to the register-file read. Data side goes through the MMIO bus to the game peripherals. C code writes sprite/HUD registers and maze RAM; the VGA engine reads them per pixel and the pixel mixer outputs RGB to the monitor. Collision flags are computed in hardware, C reads them and applies damage/reflection. Branch redirect (EX -&gt; PC) is omitted for clarity; shown in the timing slide. Full diagram: backup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Real sequence: addi, add, lw, add, sw, mul, bne, beq, ... Cycle 4: B reads A result through write-back forwarding (fwd_sel1/2). Cycle 6: lw C is waiting for data (stall_read_i); D is held in EX, resumes at 7 and gets the loaded value forwarded. mul F executes in one clock (m_ext_EX at cycle 9). beq H is taken in cycle 11: the two younger instructions J and K are squashed (no store, no register write), PC jumps to 64 so L enters. Cycle 16: lw from the input register (MMIO) waits one cycle, N gets forwarded data. Multi-cycle: DIV/REM runs 32 iterations; pipeline_stall stays high from start through done (~33 clocks), then the result is written back once; divide-by-zero and INT_MIN/-1 bypass the iterations (backup slide). NOTE: diagram is an illustrative sequence derived from the block diagrams; replace with a real simulation waveform when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1.5-2 min. Each step ends with something we can show: steps 1-2 are module + testbench, step 3 is an integrated simulation running assembly with mul/div between dependent instructions, step 4 is the full system in simulation and then on the board. Verification: testbenches compare against expected values (directed + random vectors). Edge cases: MULH/MULHSU/MULHU sign handling, divide by zero returns all ones (REM returns the dividend), INT_MIN / -1 returns INT_MIN with remainder 0 and no exception. Processor level: compile C with rv32im, run in simulation, check registers/memory, then game.c.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1-1.5 min. Three milestones. 25 Oct: at least one module tested - we plan both the multiplier and divider with testbenches. 1 Nov: minimum working system = CPU with RV32M running a C test, and VGA showing maze and tanks. Final phase: integration of the full game and the FPGA demo. TODO: insert exact final-phase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Four non-overlapping areas. A owns the multiplier, B the divider and its stall control, C the pipeline and hazard logic plus C test programs, D the game hardware (MMIO, VGA), game.c and the FPGA demo. Interfaces are fixed early: m_result / pipeline_stall between A,B and C; MMIO register map between C and D. TODO: replace A-D with real names.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1-1.5 min. Demo: Input = player buttons plus the compiled game program in instruction memory. Processing = CPU polls buttons, moves tanks, spawns bullets, reads hardware collision flags; the VGA engine renders per pixel. Output = visible on a VGA monitor connected to the FPGA. Challenges: stalls, signed/unsigned and corner cases, hazard combinations, FPGA timing closure. Be ready: Nexys A7 has only 5 buttons, so 12 game inputs need external buttons/PMOD wiring.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Q&amp;A. Sheet B of the timing diagrams (illustrative, derived from block diagrams).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for Q&amp;A: gate-level top-level diagram (Fig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 Tanks on FPGA: Overview +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Problem: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RV32I has no multiply/divide, so game math is slow.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11247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System: </a:t>
            </a:r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Two-player tank game on a Nexys A7. A 3-stage RV32IM CPU runs game rules in C; hardware handles buttons, timers, collisions and VGA. Our modification: RV32M unit (MUL/DIV/REM) with pipeline stall.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Scope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2011680" cy="1005840"/>
          </a:xfrm>
          <a:prstGeom prst="rect">
            <a:avLst>
              <a:gd name="adj" fmla="val 7273"/>
            </a:avLst>
          </a:prstGeom>
          <a:solidFill>
            <a:srgbClr val="FADBD8"/>
          </a:solidFill>
          <a:ln w="19050">
            <a:solidFill>
              <a:srgbClr val="C039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697480" y="3273552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RV32M unit (MUL/DIV/REM) verified and integrated with stall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program on CPU moves two tanks on a VGA maze using buttons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4315968"/>
            <a:ext cx="2011680" cy="1005840"/>
          </a:xfrm>
          <a:prstGeom prst="rect">
            <a:avLst>
              <a:gd name="adj" fmla="val 7273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697480" y="4389120"/>
            <a:ext cx="9052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Bullets with wall reflection, collision flags, cooldowns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hearts on screen; damage logic in C; full FPGA demo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5431536"/>
            <a:ext cx="2011680" cy="548640"/>
          </a:xfrm>
          <a:prstGeom prst="rect">
            <a:avLst>
              <a:gd name="adj" fmla="val 13333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697480" y="5504688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Single-player mode: software-controlled enemy tank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60120"/>
            <a:ext cx="781812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2F5D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11480" y="9418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RV32IM CPU (3 stages)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371600" cy="685800"/>
          </a:xfrm>
          <a:prstGeom prst="rect">
            <a:avLst>
              <a:gd name="adj" fmla="val 10667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Instr. Mem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(BRAM)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1234440"/>
            <a:ext cx="1737360" cy="685800"/>
          </a:xfrm>
          <a:prstGeom prst="rect">
            <a:avLst>
              <a:gd name="adj" fmla="val 10667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IF/ID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 · Decode · RegFile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1234440"/>
            <a:ext cx="1737360" cy="685800"/>
          </a:xfrm>
          <a:prstGeom prst="rect">
            <a:avLst>
              <a:gd name="adj" fmla="val 10667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EX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 · Branch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126480" y="1234440"/>
            <a:ext cx="1737360" cy="685800"/>
          </a:xfrm>
          <a:prstGeom prst="rect">
            <a:avLst>
              <a:gd name="adj" fmla="val 10667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Load/Store · Write-back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1572768"/>
            <a:ext cx="27432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40480" y="1572768"/>
            <a:ext cx="27432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852160" y="1572768"/>
            <a:ext cx="27432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114800" y="2103120"/>
            <a:ext cx="1737360" cy="347472"/>
          </a:xfrm>
          <a:prstGeom prst="rect">
            <a:avLst>
              <a:gd name="adj" fmla="val 21053"/>
            </a:avLst>
          </a:prstGeom>
          <a:solidFill>
            <a:srgbClr val="FADBD8"/>
          </a:solidFill>
          <a:ln w="38100">
            <a:solidFill>
              <a:srgbClr val="C039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 RV32M: MUL · DIV/REM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flipV="1">
            <a:off x="4983480" y="1920240"/>
            <a:ext cx="0" cy="182880"/>
          </a:xfrm>
          <a:prstGeom prst="line">
            <a:avLst/>
          </a:prstGeom>
          <a:noFill/>
          <a:ln w="38100">
            <a:solidFill>
              <a:srgbClr val="C0392B"/>
            </a:solidFill>
            <a:prstDash val="solid"/>
            <a:headEnd type="triangle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3108960" y="2276856"/>
            <a:ext cx="100584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3108960" y="1920240"/>
            <a:ext cx="0" cy="356616"/>
          </a:xfrm>
          <a:prstGeom prst="line">
            <a:avLst/>
          </a:prstGeom>
          <a:noFill/>
          <a:ln w="2540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3154680" y="20848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pipeline_stall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1920240"/>
            <a:ext cx="0" cy="621792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377440" y="2542032"/>
            <a:ext cx="4023360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377440" y="1920240"/>
            <a:ext cx="0" cy="621792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24323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 forwarding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223760" y="1920240"/>
            <a:ext cx="0" cy="86868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412480" y="1234440"/>
            <a:ext cx="1737360" cy="685800"/>
          </a:xfrm>
          <a:prstGeom prst="rect">
            <a:avLst>
              <a:gd name="adj" fmla="val 10667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(BRAM)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281160" y="1920240"/>
            <a:ext cx="0" cy="86868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0424160" y="1188720"/>
            <a:ext cx="228600" cy="201168"/>
          </a:xfrm>
          <a:prstGeom prst="rect">
            <a:avLst>
              <a:gd name="adj" fmla="val 36364"/>
            </a:avLst>
          </a:prstGeom>
          <a:solidFill>
            <a:srgbClr val="DCE8FA"/>
          </a:solidFill>
          <a:ln w="19050">
            <a:solidFill>
              <a:srgbClr val="2F5DA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698480" y="1188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CPU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424160" y="1463040"/>
            <a:ext cx="228600" cy="201168"/>
          </a:xfrm>
          <a:prstGeom prst="rect">
            <a:avLst>
              <a:gd name="adj" fmla="val 36364"/>
            </a:avLst>
          </a:prstGeom>
          <a:solidFill>
            <a:srgbClr val="FADBD8"/>
          </a:solidFill>
          <a:ln w="19050">
            <a:solidFill>
              <a:srgbClr val="C039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0" y="1463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modification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424160" y="1737360"/>
            <a:ext cx="228600" cy="201168"/>
          </a:xfrm>
          <a:prstGeom prst="rect">
            <a:avLst>
              <a:gd name="adj" fmla="val 36364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698480" y="173736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hardware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20040" y="2788920"/>
            <a:ext cx="11521440" cy="365760"/>
          </a:xfrm>
          <a:prstGeom prst="rect">
            <a:avLst>
              <a:gd name="adj" fmla="val 20000"/>
            </a:avLst>
          </a:prstGeom>
          <a:solidFill>
            <a:srgbClr val="FFF3C4"/>
          </a:solidFill>
          <a:ln w="19050">
            <a:solidFill>
              <a:srgbClr val="9CA3A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MMIO bus  (addr · wdata · we  →  registered read mux)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65760" y="3429000"/>
            <a:ext cx="2103120" cy="640080"/>
          </a:xfrm>
          <a:prstGeom prst="rect">
            <a:avLst>
              <a:gd name="adj" fmla="val 11429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Collision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(hit flags)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417320" y="3154680"/>
            <a:ext cx="0" cy="27432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2560320" y="3429000"/>
            <a:ext cx="2103120" cy="640080"/>
          </a:xfrm>
          <a:prstGeom prst="rect">
            <a:avLst>
              <a:gd name="adj" fmla="val 11429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Sprite/HUD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11880" y="3154680"/>
            <a:ext cx="0" cy="27432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4754880" y="3429000"/>
            <a:ext cx="2103120" cy="640080"/>
          </a:xfrm>
          <a:prstGeom prst="rect">
            <a:avLst>
              <a:gd name="adj" fmla="val 11429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 Tile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806440" y="3154680"/>
            <a:ext cx="0" cy="27432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6949440" y="3429000"/>
            <a:ext cx="2103120" cy="640080"/>
          </a:xfrm>
          <a:prstGeom prst="rect">
            <a:avLst>
              <a:gd name="adj" fmla="val 11429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001000" y="3154680"/>
            <a:ext cx="0" cy="27432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9144000" y="3429000"/>
            <a:ext cx="2103120" cy="640080"/>
          </a:xfrm>
          <a:prstGeom prst="rect">
            <a:avLst>
              <a:gd name="adj" fmla="val 11429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Cooldown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10195560" y="3154680"/>
            <a:ext cx="0" cy="27432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365760" y="4526280"/>
            <a:ext cx="1920240" cy="594360"/>
          </a:xfrm>
          <a:prstGeom prst="rect">
            <a:avLst>
              <a:gd name="adj" fmla="val 12308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VGA timing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(x, y, sync)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2560320" y="4526280"/>
            <a:ext cx="4297680" cy="594360"/>
          </a:xfrm>
          <a:prstGeom prst="rect">
            <a:avLst>
              <a:gd name="adj" fmla="val 12308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Sprite engine · Maze renderer · HUD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7132320" y="4526280"/>
            <a:ext cx="1828800" cy="594360"/>
          </a:xfrm>
          <a:prstGeom prst="rect">
            <a:avLst>
              <a:gd name="adj" fmla="val 12308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mixer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(priority)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526280"/>
            <a:ext cx="1280160" cy="594360"/>
          </a:xfrm>
          <a:prstGeom prst="rect">
            <a:avLst>
              <a:gd name="adj" fmla="val 12308"/>
            </a:avLst>
          </a:prstGeom>
          <a:solidFill>
            <a:srgbClr val="D9F0E3"/>
          </a:solidFill>
          <a:ln w="19050">
            <a:solidFill>
              <a:srgbClr val="2E8B5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VGA out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0789920" y="4526280"/>
            <a:ext cx="1051560" cy="594360"/>
          </a:xfrm>
          <a:prstGeom prst="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1F2937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286000" y="4818888"/>
            <a:ext cx="27432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858000" y="4818888"/>
            <a:ext cx="27432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961120" y="4818888"/>
            <a:ext cx="27432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515600" y="4818888"/>
            <a:ext cx="27432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611880" y="4069080"/>
            <a:ext cx="0" cy="45720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5806440" y="4069080"/>
            <a:ext cx="0" cy="45720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365760" y="4133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positions, angles, health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897880" y="4133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E8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 tiles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57200" y="5303520"/>
            <a:ext cx="11247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Modification: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RV32M unit plugs into the EX stage; ALU gets its result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divider asserts pipeline_stall; PC and IF/ID freeze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writes sprite regs over MMIO; video reads them every pixel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Diagram: 28 cycles, real instruction sequence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20040" y="134416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clk_sys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" y="168249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IF/ID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202082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" y="235915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WB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" y="269748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stall_read_i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" y="303580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branch_taken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337413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fwd_sel1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71246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fwd_sel2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" y="405079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m_ext_EX (MUL)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103120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50919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98717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46516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94314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42113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89911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37710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85509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233307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81106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28904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76703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24501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72300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20099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67897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015696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63494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11293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059091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406890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754689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102487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450286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98084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11145883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1493681" y="1005840"/>
            <a:ext cx="347799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2103120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103120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7701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277019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45091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450919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24818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24818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798717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798717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7261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72616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14651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146516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0415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20415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9431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494314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66821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668214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842113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42113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16012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016012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18991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189911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6381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363811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537710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537710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71160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711609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88550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885509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059408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059408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233307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233307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40720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07206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58110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81106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755005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5755005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92890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928904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10280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102804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276703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276703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450602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450602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62450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624501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79840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798401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972300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972300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14619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146199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32009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320099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493998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493998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7897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667897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84179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841796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01569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015696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189595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189595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36349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363494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53739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537394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711293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711293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885192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885192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05909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9059091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3299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9232991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406890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406890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8078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9580789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754689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754689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9928588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928588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0102487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0102487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27638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0276386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10450286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10450286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10624185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10624185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1079808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10798084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0971984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10971984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11145883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11145883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1319782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1319782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149368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1493681" y="1417320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11667581" y="1417320"/>
            <a:ext cx="0" cy="192024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1667581" y="1609344"/>
            <a:ext cx="173899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2112264" y="1709928"/>
            <a:ext cx="677309" cy="283464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2807861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57" name="Text 155"/>
          <p:cNvSpPr/>
          <p:nvPr/>
        </p:nvSpPr>
        <p:spPr>
          <a:xfrm>
            <a:off x="3155660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58" name="Text 156"/>
          <p:cNvSpPr/>
          <p:nvPr/>
        </p:nvSpPr>
        <p:spPr>
          <a:xfrm>
            <a:off x="3503458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9" name="Text 157"/>
          <p:cNvSpPr/>
          <p:nvPr/>
        </p:nvSpPr>
        <p:spPr>
          <a:xfrm>
            <a:off x="3851257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60" name="Text 158"/>
          <p:cNvSpPr/>
          <p:nvPr/>
        </p:nvSpPr>
        <p:spPr>
          <a:xfrm>
            <a:off x="4199055" y="1709928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161" name="Text 159"/>
          <p:cNvSpPr/>
          <p:nvPr/>
        </p:nvSpPr>
        <p:spPr>
          <a:xfrm>
            <a:off x="4894653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162" name="Text 160"/>
          <p:cNvSpPr/>
          <p:nvPr/>
        </p:nvSpPr>
        <p:spPr>
          <a:xfrm>
            <a:off x="5242451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400" dirty="0"/>
          </a:p>
        </p:txBody>
      </p:sp>
      <p:sp>
        <p:nvSpPr>
          <p:cNvPr id="163" name="Text 161"/>
          <p:cNvSpPr/>
          <p:nvPr/>
        </p:nvSpPr>
        <p:spPr>
          <a:xfrm>
            <a:off x="5590250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400" dirty="0"/>
          </a:p>
        </p:txBody>
      </p:sp>
      <p:sp>
        <p:nvSpPr>
          <p:cNvPr id="164" name="Text 162"/>
          <p:cNvSpPr/>
          <p:nvPr/>
        </p:nvSpPr>
        <p:spPr>
          <a:xfrm>
            <a:off x="5938048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</a:t>
            </a:r>
            <a:endParaRPr lang="en-US" sz="1400" dirty="0"/>
          </a:p>
        </p:txBody>
      </p:sp>
      <p:sp>
        <p:nvSpPr>
          <p:cNvPr id="165" name="Text 163"/>
          <p:cNvSpPr/>
          <p:nvPr/>
        </p:nvSpPr>
        <p:spPr>
          <a:xfrm>
            <a:off x="6285847" y="1709928"/>
            <a:ext cx="329511" cy="283464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K×</a:t>
            </a:r>
            <a:endParaRPr lang="en-US" sz="1400" dirty="0"/>
          </a:p>
        </p:txBody>
      </p:sp>
      <p:sp>
        <p:nvSpPr>
          <p:cNvPr id="166" name="Text 164"/>
          <p:cNvSpPr/>
          <p:nvPr/>
        </p:nvSpPr>
        <p:spPr>
          <a:xfrm>
            <a:off x="6633645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400" dirty="0"/>
          </a:p>
        </p:txBody>
      </p:sp>
      <p:sp>
        <p:nvSpPr>
          <p:cNvPr id="167" name="Text 165"/>
          <p:cNvSpPr/>
          <p:nvPr/>
        </p:nvSpPr>
        <p:spPr>
          <a:xfrm>
            <a:off x="6981444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400" dirty="0"/>
          </a:p>
        </p:txBody>
      </p:sp>
      <p:sp>
        <p:nvSpPr>
          <p:cNvPr id="168" name="Text 166"/>
          <p:cNvSpPr/>
          <p:nvPr/>
        </p:nvSpPr>
        <p:spPr>
          <a:xfrm>
            <a:off x="7329243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169" name="Text 167"/>
          <p:cNvSpPr/>
          <p:nvPr/>
        </p:nvSpPr>
        <p:spPr>
          <a:xfrm>
            <a:off x="7677041" y="1709928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400" dirty="0"/>
          </a:p>
        </p:txBody>
      </p:sp>
      <p:sp>
        <p:nvSpPr>
          <p:cNvPr id="170" name="Text 168"/>
          <p:cNvSpPr/>
          <p:nvPr/>
        </p:nvSpPr>
        <p:spPr>
          <a:xfrm>
            <a:off x="8372638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400" dirty="0"/>
          </a:p>
        </p:txBody>
      </p:sp>
      <p:sp>
        <p:nvSpPr>
          <p:cNvPr id="171" name="Text 169"/>
          <p:cNvSpPr/>
          <p:nvPr/>
        </p:nvSpPr>
        <p:spPr>
          <a:xfrm>
            <a:off x="8720437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400" dirty="0"/>
          </a:p>
        </p:txBody>
      </p:sp>
      <p:sp>
        <p:nvSpPr>
          <p:cNvPr id="172" name="Text 170"/>
          <p:cNvSpPr/>
          <p:nvPr/>
        </p:nvSpPr>
        <p:spPr>
          <a:xfrm>
            <a:off x="9068235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400" dirty="0"/>
          </a:p>
        </p:txBody>
      </p:sp>
      <p:sp>
        <p:nvSpPr>
          <p:cNvPr id="173" name="Text 171"/>
          <p:cNvSpPr/>
          <p:nvPr/>
        </p:nvSpPr>
        <p:spPr>
          <a:xfrm>
            <a:off x="9416034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174" name="Text 172"/>
          <p:cNvSpPr/>
          <p:nvPr/>
        </p:nvSpPr>
        <p:spPr>
          <a:xfrm>
            <a:off x="9763833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400" dirty="0"/>
          </a:p>
        </p:txBody>
      </p:sp>
      <p:sp>
        <p:nvSpPr>
          <p:cNvPr id="175" name="Text 173"/>
          <p:cNvSpPr/>
          <p:nvPr/>
        </p:nvSpPr>
        <p:spPr>
          <a:xfrm>
            <a:off x="10111631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400" dirty="0"/>
          </a:p>
        </p:txBody>
      </p:sp>
      <p:sp>
        <p:nvSpPr>
          <p:cNvPr id="176" name="Text 174"/>
          <p:cNvSpPr/>
          <p:nvPr/>
        </p:nvSpPr>
        <p:spPr>
          <a:xfrm>
            <a:off x="10459430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400" dirty="0"/>
          </a:p>
        </p:txBody>
      </p:sp>
      <p:sp>
        <p:nvSpPr>
          <p:cNvPr id="177" name="Text 175"/>
          <p:cNvSpPr/>
          <p:nvPr/>
        </p:nvSpPr>
        <p:spPr>
          <a:xfrm>
            <a:off x="10807228" y="1709928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178" name="Text 176"/>
          <p:cNvSpPr/>
          <p:nvPr/>
        </p:nvSpPr>
        <p:spPr>
          <a:xfrm>
            <a:off x="11155027" y="1709928"/>
            <a:ext cx="677309" cy="283464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</a:t>
            </a:r>
            <a:endParaRPr lang="en-US" sz="1000" dirty="0"/>
          </a:p>
        </p:txBody>
      </p:sp>
      <p:sp>
        <p:nvSpPr>
          <p:cNvPr id="179" name="Text 177"/>
          <p:cNvSpPr/>
          <p:nvPr/>
        </p:nvSpPr>
        <p:spPr>
          <a:xfrm>
            <a:off x="2112264" y="2048256"/>
            <a:ext cx="1025108" cy="283464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</a:t>
            </a:r>
            <a:endParaRPr lang="en-US" sz="1000" dirty="0"/>
          </a:p>
        </p:txBody>
      </p:sp>
      <p:sp>
        <p:nvSpPr>
          <p:cNvPr id="180" name="Text 178"/>
          <p:cNvSpPr/>
          <p:nvPr/>
        </p:nvSpPr>
        <p:spPr>
          <a:xfrm>
            <a:off x="3155660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81" name="Text 179"/>
          <p:cNvSpPr/>
          <p:nvPr/>
        </p:nvSpPr>
        <p:spPr>
          <a:xfrm>
            <a:off x="3503458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82" name="Text 180"/>
          <p:cNvSpPr/>
          <p:nvPr/>
        </p:nvSpPr>
        <p:spPr>
          <a:xfrm>
            <a:off x="3851257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83" name="Text 181"/>
          <p:cNvSpPr/>
          <p:nvPr/>
        </p:nvSpPr>
        <p:spPr>
          <a:xfrm>
            <a:off x="4199055" y="2048256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4" name="Text 182"/>
          <p:cNvSpPr/>
          <p:nvPr/>
        </p:nvSpPr>
        <p:spPr>
          <a:xfrm>
            <a:off x="4894653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185" name="Text 183"/>
          <p:cNvSpPr/>
          <p:nvPr/>
        </p:nvSpPr>
        <p:spPr>
          <a:xfrm>
            <a:off x="5242451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186" name="Text 184"/>
          <p:cNvSpPr/>
          <p:nvPr/>
        </p:nvSpPr>
        <p:spPr>
          <a:xfrm>
            <a:off x="5590250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400" dirty="0"/>
          </a:p>
        </p:txBody>
      </p:sp>
      <p:sp>
        <p:nvSpPr>
          <p:cNvPr id="187" name="Text 185"/>
          <p:cNvSpPr/>
          <p:nvPr/>
        </p:nvSpPr>
        <p:spPr>
          <a:xfrm>
            <a:off x="5938048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400" dirty="0"/>
          </a:p>
        </p:txBody>
      </p:sp>
      <p:sp>
        <p:nvSpPr>
          <p:cNvPr id="188" name="Text 186"/>
          <p:cNvSpPr/>
          <p:nvPr/>
        </p:nvSpPr>
        <p:spPr>
          <a:xfrm>
            <a:off x="6285847" y="2048256"/>
            <a:ext cx="329511" cy="283464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J×</a:t>
            </a:r>
            <a:endParaRPr lang="en-US" sz="1400" dirty="0"/>
          </a:p>
        </p:txBody>
      </p:sp>
      <p:sp>
        <p:nvSpPr>
          <p:cNvPr id="189" name="Text 187"/>
          <p:cNvSpPr/>
          <p:nvPr/>
        </p:nvSpPr>
        <p:spPr>
          <a:xfrm>
            <a:off x="6633645" y="2048256"/>
            <a:ext cx="329511" cy="283464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K×</a:t>
            </a:r>
            <a:endParaRPr lang="en-US" sz="1400" dirty="0"/>
          </a:p>
        </p:txBody>
      </p:sp>
      <p:sp>
        <p:nvSpPr>
          <p:cNvPr id="190" name="Text 188"/>
          <p:cNvSpPr/>
          <p:nvPr/>
        </p:nvSpPr>
        <p:spPr>
          <a:xfrm>
            <a:off x="6981444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400" dirty="0"/>
          </a:p>
        </p:txBody>
      </p:sp>
      <p:sp>
        <p:nvSpPr>
          <p:cNvPr id="191" name="Text 189"/>
          <p:cNvSpPr/>
          <p:nvPr/>
        </p:nvSpPr>
        <p:spPr>
          <a:xfrm>
            <a:off x="7329243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400" dirty="0"/>
          </a:p>
        </p:txBody>
      </p:sp>
      <p:sp>
        <p:nvSpPr>
          <p:cNvPr id="192" name="Text 190"/>
          <p:cNvSpPr/>
          <p:nvPr/>
        </p:nvSpPr>
        <p:spPr>
          <a:xfrm>
            <a:off x="7677041" y="2048256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193" name="Text 191"/>
          <p:cNvSpPr/>
          <p:nvPr/>
        </p:nvSpPr>
        <p:spPr>
          <a:xfrm>
            <a:off x="8372638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400" dirty="0"/>
          </a:p>
        </p:txBody>
      </p:sp>
      <p:sp>
        <p:nvSpPr>
          <p:cNvPr id="194" name="Text 192"/>
          <p:cNvSpPr/>
          <p:nvPr/>
        </p:nvSpPr>
        <p:spPr>
          <a:xfrm>
            <a:off x="8720437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400" dirty="0"/>
          </a:p>
        </p:txBody>
      </p:sp>
      <p:sp>
        <p:nvSpPr>
          <p:cNvPr id="195" name="Text 193"/>
          <p:cNvSpPr/>
          <p:nvPr/>
        </p:nvSpPr>
        <p:spPr>
          <a:xfrm>
            <a:off x="9068235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400" dirty="0"/>
          </a:p>
        </p:txBody>
      </p:sp>
      <p:sp>
        <p:nvSpPr>
          <p:cNvPr id="196" name="Text 194"/>
          <p:cNvSpPr/>
          <p:nvPr/>
        </p:nvSpPr>
        <p:spPr>
          <a:xfrm>
            <a:off x="9416034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400" dirty="0"/>
          </a:p>
        </p:txBody>
      </p:sp>
      <p:sp>
        <p:nvSpPr>
          <p:cNvPr id="197" name="Text 195"/>
          <p:cNvSpPr/>
          <p:nvPr/>
        </p:nvSpPr>
        <p:spPr>
          <a:xfrm>
            <a:off x="9763833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198" name="Text 196"/>
          <p:cNvSpPr/>
          <p:nvPr/>
        </p:nvSpPr>
        <p:spPr>
          <a:xfrm>
            <a:off x="10111631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400" dirty="0"/>
          </a:p>
        </p:txBody>
      </p:sp>
      <p:sp>
        <p:nvSpPr>
          <p:cNvPr id="199" name="Text 197"/>
          <p:cNvSpPr/>
          <p:nvPr/>
        </p:nvSpPr>
        <p:spPr>
          <a:xfrm>
            <a:off x="10459430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400" dirty="0"/>
          </a:p>
        </p:txBody>
      </p:sp>
      <p:sp>
        <p:nvSpPr>
          <p:cNvPr id="200" name="Text 198"/>
          <p:cNvSpPr/>
          <p:nvPr/>
        </p:nvSpPr>
        <p:spPr>
          <a:xfrm>
            <a:off x="10807228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400" dirty="0"/>
          </a:p>
        </p:txBody>
      </p:sp>
      <p:sp>
        <p:nvSpPr>
          <p:cNvPr id="201" name="Text 199"/>
          <p:cNvSpPr/>
          <p:nvPr/>
        </p:nvSpPr>
        <p:spPr>
          <a:xfrm>
            <a:off x="11155027" y="2048256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202" name="Text 200"/>
          <p:cNvSpPr/>
          <p:nvPr/>
        </p:nvSpPr>
        <p:spPr>
          <a:xfrm>
            <a:off x="11502825" y="2048256"/>
            <a:ext cx="329511" cy="283464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2112264" y="2386584"/>
            <a:ext cx="1372906" cy="283464"/>
          </a:xfrm>
          <a:prstGeom prst="rect">
            <a:avLst/>
          </a:prstGeom>
          <a:solidFill>
            <a:srgbClr val="E5E7EB"/>
          </a:solidFill>
          <a:ln w="12700">
            <a:solidFill>
              <a:srgbClr val="9CA3A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NOP</a:t>
            </a:r>
            <a:endParaRPr lang="en-US" sz="1000" dirty="0"/>
          </a:p>
        </p:txBody>
      </p:sp>
      <p:sp>
        <p:nvSpPr>
          <p:cNvPr id="204" name="Text 202"/>
          <p:cNvSpPr/>
          <p:nvPr/>
        </p:nvSpPr>
        <p:spPr>
          <a:xfrm>
            <a:off x="3503458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05" name="Text 203"/>
          <p:cNvSpPr/>
          <p:nvPr/>
        </p:nvSpPr>
        <p:spPr>
          <a:xfrm>
            <a:off x="3851257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206" name="Text 204"/>
          <p:cNvSpPr/>
          <p:nvPr/>
        </p:nvSpPr>
        <p:spPr>
          <a:xfrm>
            <a:off x="4199055" y="2386584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7" name="Text 205"/>
          <p:cNvSpPr/>
          <p:nvPr/>
        </p:nvSpPr>
        <p:spPr>
          <a:xfrm>
            <a:off x="4894653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8" name="Text 206"/>
          <p:cNvSpPr/>
          <p:nvPr/>
        </p:nvSpPr>
        <p:spPr>
          <a:xfrm>
            <a:off x="5242451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1400" dirty="0"/>
          </a:p>
        </p:txBody>
      </p:sp>
      <p:sp>
        <p:nvSpPr>
          <p:cNvPr id="209" name="Text 207"/>
          <p:cNvSpPr/>
          <p:nvPr/>
        </p:nvSpPr>
        <p:spPr>
          <a:xfrm>
            <a:off x="5590250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1400" dirty="0"/>
          </a:p>
        </p:txBody>
      </p:sp>
      <p:sp>
        <p:nvSpPr>
          <p:cNvPr id="210" name="Text 208"/>
          <p:cNvSpPr/>
          <p:nvPr/>
        </p:nvSpPr>
        <p:spPr>
          <a:xfrm>
            <a:off x="5938048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1400" dirty="0"/>
          </a:p>
        </p:txBody>
      </p:sp>
      <p:sp>
        <p:nvSpPr>
          <p:cNvPr id="211" name="Text 209"/>
          <p:cNvSpPr/>
          <p:nvPr/>
        </p:nvSpPr>
        <p:spPr>
          <a:xfrm>
            <a:off x="6285847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400" dirty="0"/>
          </a:p>
        </p:txBody>
      </p:sp>
      <p:sp>
        <p:nvSpPr>
          <p:cNvPr id="212" name="Text 210"/>
          <p:cNvSpPr/>
          <p:nvPr/>
        </p:nvSpPr>
        <p:spPr>
          <a:xfrm>
            <a:off x="6633645" y="2386584"/>
            <a:ext cx="329511" cy="283464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J×</a:t>
            </a:r>
            <a:endParaRPr lang="en-US" sz="1400" dirty="0"/>
          </a:p>
        </p:txBody>
      </p:sp>
      <p:sp>
        <p:nvSpPr>
          <p:cNvPr id="213" name="Text 211"/>
          <p:cNvSpPr/>
          <p:nvPr/>
        </p:nvSpPr>
        <p:spPr>
          <a:xfrm>
            <a:off x="6981444" y="2386584"/>
            <a:ext cx="329511" cy="283464"/>
          </a:xfrm>
          <a:prstGeom prst="rect">
            <a:avLst/>
          </a:prstGeom>
          <a:solidFill>
            <a:srgbClr val="FADBD8"/>
          </a:solidFill>
          <a:ln w="12700"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K×</a:t>
            </a:r>
            <a:endParaRPr lang="en-US" sz="1400" dirty="0"/>
          </a:p>
        </p:txBody>
      </p:sp>
      <p:sp>
        <p:nvSpPr>
          <p:cNvPr id="214" name="Text 212"/>
          <p:cNvSpPr/>
          <p:nvPr/>
        </p:nvSpPr>
        <p:spPr>
          <a:xfrm>
            <a:off x="7329243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1400" dirty="0"/>
          </a:p>
        </p:txBody>
      </p:sp>
      <p:sp>
        <p:nvSpPr>
          <p:cNvPr id="215" name="Text 213"/>
          <p:cNvSpPr/>
          <p:nvPr/>
        </p:nvSpPr>
        <p:spPr>
          <a:xfrm>
            <a:off x="7677041" y="2386584"/>
            <a:ext cx="677309" cy="283464"/>
          </a:xfrm>
          <a:prstGeom prst="rect">
            <a:avLst/>
          </a:prstGeom>
          <a:solidFill>
            <a:srgbClr val="FDEBD0"/>
          </a:solidFill>
          <a:ln w="12700"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400" dirty="0"/>
          </a:p>
        </p:txBody>
      </p:sp>
      <p:sp>
        <p:nvSpPr>
          <p:cNvPr id="216" name="Text 214"/>
          <p:cNvSpPr/>
          <p:nvPr/>
        </p:nvSpPr>
        <p:spPr>
          <a:xfrm>
            <a:off x="8372638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1400" dirty="0"/>
          </a:p>
        </p:txBody>
      </p:sp>
      <p:sp>
        <p:nvSpPr>
          <p:cNvPr id="217" name="Text 215"/>
          <p:cNvSpPr/>
          <p:nvPr/>
        </p:nvSpPr>
        <p:spPr>
          <a:xfrm>
            <a:off x="8720437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400" dirty="0"/>
          </a:p>
        </p:txBody>
      </p:sp>
      <p:sp>
        <p:nvSpPr>
          <p:cNvPr id="218" name="Text 216"/>
          <p:cNvSpPr/>
          <p:nvPr/>
        </p:nvSpPr>
        <p:spPr>
          <a:xfrm>
            <a:off x="9068235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400" dirty="0"/>
          </a:p>
        </p:txBody>
      </p:sp>
      <p:sp>
        <p:nvSpPr>
          <p:cNvPr id="219" name="Text 217"/>
          <p:cNvSpPr/>
          <p:nvPr/>
        </p:nvSpPr>
        <p:spPr>
          <a:xfrm>
            <a:off x="9416034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</a:t>
            </a:r>
            <a:endParaRPr lang="en-US" sz="1400" dirty="0"/>
          </a:p>
        </p:txBody>
      </p:sp>
      <p:sp>
        <p:nvSpPr>
          <p:cNvPr id="220" name="Text 218"/>
          <p:cNvSpPr/>
          <p:nvPr/>
        </p:nvSpPr>
        <p:spPr>
          <a:xfrm>
            <a:off x="9763833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400" dirty="0"/>
          </a:p>
        </p:txBody>
      </p:sp>
      <p:sp>
        <p:nvSpPr>
          <p:cNvPr id="221" name="Text 219"/>
          <p:cNvSpPr/>
          <p:nvPr/>
        </p:nvSpPr>
        <p:spPr>
          <a:xfrm>
            <a:off x="10111631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400" dirty="0"/>
          </a:p>
        </p:txBody>
      </p:sp>
      <p:sp>
        <p:nvSpPr>
          <p:cNvPr id="222" name="Text 220"/>
          <p:cNvSpPr/>
          <p:nvPr/>
        </p:nvSpPr>
        <p:spPr>
          <a:xfrm>
            <a:off x="10459430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400" dirty="0"/>
          </a:p>
        </p:txBody>
      </p:sp>
      <p:sp>
        <p:nvSpPr>
          <p:cNvPr id="223" name="Text 221"/>
          <p:cNvSpPr/>
          <p:nvPr/>
        </p:nvSpPr>
        <p:spPr>
          <a:xfrm>
            <a:off x="10807228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</a:t>
            </a:r>
            <a:endParaRPr lang="en-US" sz="1400" dirty="0"/>
          </a:p>
        </p:txBody>
      </p:sp>
      <p:sp>
        <p:nvSpPr>
          <p:cNvPr id="224" name="Text 222"/>
          <p:cNvSpPr/>
          <p:nvPr/>
        </p:nvSpPr>
        <p:spPr>
          <a:xfrm>
            <a:off x="11155027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400" dirty="0"/>
          </a:p>
        </p:txBody>
      </p:sp>
      <p:sp>
        <p:nvSpPr>
          <p:cNvPr id="225" name="Text 223"/>
          <p:cNvSpPr/>
          <p:nvPr/>
        </p:nvSpPr>
        <p:spPr>
          <a:xfrm>
            <a:off x="11502825" y="2386584"/>
            <a:ext cx="329511" cy="283464"/>
          </a:xfrm>
          <a:prstGeom prst="rect">
            <a:avLst/>
          </a:prstGeom>
          <a:solidFill>
            <a:srgbClr val="DCE8FA"/>
          </a:solidFill>
          <a:ln w="12700"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1400" dirty="0"/>
          </a:p>
        </p:txBody>
      </p:sp>
      <p:sp>
        <p:nvSpPr>
          <p:cNvPr id="226" name="Shape 224"/>
          <p:cNvSpPr/>
          <p:nvPr/>
        </p:nvSpPr>
        <p:spPr>
          <a:xfrm>
            <a:off x="2103120" y="2724912"/>
            <a:ext cx="9738360" cy="28346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7" name="Text 225"/>
          <p:cNvSpPr/>
          <p:nvPr/>
        </p:nvSpPr>
        <p:spPr>
          <a:xfrm>
            <a:off x="4199055" y="2724912"/>
            <a:ext cx="329511" cy="283464"/>
          </a:xfrm>
          <a:prstGeom prst="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8" name="Text 226"/>
          <p:cNvSpPr/>
          <p:nvPr/>
        </p:nvSpPr>
        <p:spPr>
          <a:xfrm>
            <a:off x="7677041" y="2724912"/>
            <a:ext cx="329511" cy="283464"/>
          </a:xfrm>
          <a:prstGeom prst="rect">
            <a:avLst/>
          </a:prstGeom>
          <a:solidFill>
            <a:srgbClr val="E67E22"/>
          </a:solidFill>
          <a:ln>
            <a:solidFill>
              <a:srgbClr val="E67E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9" name="Shape 227"/>
          <p:cNvSpPr/>
          <p:nvPr/>
        </p:nvSpPr>
        <p:spPr>
          <a:xfrm>
            <a:off x="2103120" y="3063240"/>
            <a:ext cx="9738360" cy="28346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5938048" y="3063240"/>
            <a:ext cx="329511" cy="283464"/>
          </a:xfrm>
          <a:prstGeom prst="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1" name="Shape 229"/>
          <p:cNvSpPr/>
          <p:nvPr/>
        </p:nvSpPr>
        <p:spPr>
          <a:xfrm>
            <a:off x="2103120" y="3401568"/>
            <a:ext cx="9738360" cy="28346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3503458" y="3401568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3" name="Text 231"/>
          <p:cNvSpPr/>
          <p:nvPr/>
        </p:nvSpPr>
        <p:spPr>
          <a:xfrm>
            <a:off x="4546854" y="3401568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4" name="Text 232"/>
          <p:cNvSpPr/>
          <p:nvPr/>
        </p:nvSpPr>
        <p:spPr>
          <a:xfrm>
            <a:off x="8024840" y="3401568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5" name="Text 233"/>
          <p:cNvSpPr/>
          <p:nvPr/>
        </p:nvSpPr>
        <p:spPr>
          <a:xfrm>
            <a:off x="9068235" y="3401568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6" name="Shape 234"/>
          <p:cNvSpPr/>
          <p:nvPr/>
        </p:nvSpPr>
        <p:spPr>
          <a:xfrm>
            <a:off x="2103120" y="3739896"/>
            <a:ext cx="9738360" cy="28346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3503458" y="3739896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8" name="Text 236"/>
          <p:cNvSpPr/>
          <p:nvPr/>
        </p:nvSpPr>
        <p:spPr>
          <a:xfrm>
            <a:off x="4894653" y="3739896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9" name="Text 237"/>
          <p:cNvSpPr/>
          <p:nvPr/>
        </p:nvSpPr>
        <p:spPr>
          <a:xfrm>
            <a:off x="8372638" y="3739896"/>
            <a:ext cx="329511" cy="283464"/>
          </a:xfrm>
          <a:prstGeom prst="rect">
            <a:avLst/>
          </a:prstGeom>
          <a:solidFill>
            <a:srgbClr val="2F5DA8"/>
          </a:solidFill>
          <a:ln>
            <a:solidFill>
              <a:srgbClr val="2F5DA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40" name="Shape 238"/>
          <p:cNvSpPr/>
          <p:nvPr/>
        </p:nvSpPr>
        <p:spPr>
          <a:xfrm>
            <a:off x="2103120" y="4078224"/>
            <a:ext cx="9738360" cy="283464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242451" y="4078224"/>
            <a:ext cx="329511" cy="283464"/>
          </a:xfrm>
          <a:prstGeom prst="rect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42" name="Shape 240"/>
          <p:cNvSpPr/>
          <p:nvPr/>
        </p:nvSpPr>
        <p:spPr>
          <a:xfrm>
            <a:off x="2103120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2450919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798717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3146516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3494314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3842113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4189911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4537710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4885509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5233307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5581106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5928904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6276703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6624501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6972300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7320099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7667897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8015696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8363494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8711293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9059091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9406890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9754689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10102487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10450286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10798084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11145883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11493681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11841480" y="1682496"/>
            <a:ext cx="0" cy="2706624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1" name="Text 269"/>
          <p:cNvSpPr/>
          <p:nvPr/>
        </p:nvSpPr>
        <p:spPr>
          <a:xfrm>
            <a:off x="320040" y="4434840"/>
            <a:ext cx="11521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Instructions: A addi · B add · C lw · D add · E sw · F mul · G bne (not taken) · H beq (taken) · J, K wrong path · L sw · M lw · N addi (uses M)   |   orange = held/stalled, red = squashed</a:t>
            </a:r>
            <a:endParaRPr lang="en-US" sz="1400" dirty="0"/>
          </a:p>
        </p:txBody>
      </p:sp>
      <p:sp>
        <p:nvSpPr>
          <p:cNvPr id="272" name="Text 270"/>
          <p:cNvSpPr/>
          <p:nvPr/>
        </p:nvSpPr>
        <p:spPr>
          <a:xfrm>
            <a:off x="457200" y="5074920"/>
            <a:ext cx="11247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takes A's result in cycle 4; D takes lw data in cycle 7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stall: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lw waits 1 cycle (6, 16); pipeline holds, single write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Taken branch H (11):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J, K squashed; fetch resumes at target L</a:t>
            </a:r>
            <a:endParaRPr lang="en-US" sz="2000" dirty="0"/>
          </a:p>
          <a:p>
            <a:pPr marL="254000" indent="-2540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Multi-cycle: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 1 clock; DIV/REM stalls pipeline ≈33 clocks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+ Verification 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4864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 unit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mul.v + testbench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DIV/REM unit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div_rem.v + testbench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RV32M in pipeline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(stall, bubble) → integrated simulation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MMIO + VGA + game.c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full simulation, then FPGA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0" cy="484632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051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Plan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0" y="160020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level: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self-checking testbenches vs. golden results</a:t>
            </a:r>
            <a:endParaRPr lang="en-US" sz="20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signed/unsigned MULH variants, ÷0, INT_MIN ÷ −1, REM sign</a:t>
            </a:r>
            <a:endParaRPr lang="en-US" sz="2000" dirty="0"/>
          </a:p>
          <a:p>
            <a:pPr marL="254000" indent="-254000">
              <a:spcAft>
                <a:spcPts val="14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 level: </a:t>
            </a:r>
            <a:pPr indent="0" marL="0">
              <a:spcAft>
                <a:spcPts val="14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programs in simulation: mul/div test, then game.c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When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(concrete deliverables)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25 Oct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mul.v + div_rem.v pass their testbenches (incl. ÷0, INT_MIN ÷ −1)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 1 Nov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system: CPU + RV32M runs a C test in simulation; VGA shows maze + tanks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phase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Integration: game.c with bullets, collision, health; timing closed; FPGA demo on Nexys A7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Dependencies: modules first, then pipeline integration, then game software, then bitstream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Responsibilities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601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Member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Responsibility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A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 / MULH / MULHSU / MULHU + testbench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 / DIVU / REM / REMU + stall control + testbench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integration + hazards + C test programs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MMIO peripherals, VGA, game.c, FPGA build + demo</a:t>
                      </a:r>
                      <a:endParaRPr lang="en-US" sz="2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CA3A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Interfaces: A/B → C: result + pipeline_stall;  C ↔ D: MMIO register map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Plan + Challenges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11274552" cy="0"/>
          </a:xfrm>
          <a:prstGeom prst="line">
            <a:avLst/>
          </a:prstGeom>
          <a:noFill/>
          <a:ln w="25400">
            <a:solidFill>
              <a:srgbClr val="2F5D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5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Plan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3383280" cy="1600200"/>
          </a:xfrm>
          <a:prstGeom prst="rect">
            <a:avLst/>
          </a:prstGeom>
          <a:solidFill>
            <a:srgbClr val="DCE8FA"/>
          </a:solidFill>
          <a:ln w="25400">
            <a:solidFill>
              <a:srgbClr val="2F5DA8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buttons + game.c in instruction memory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86200" y="2304288"/>
            <a:ext cx="457200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389120" y="1508760"/>
            <a:ext cx="3383280" cy="1600200"/>
          </a:xfrm>
          <a:prstGeom prst="rect">
            <a:avLst/>
          </a:prstGeom>
          <a:solidFill>
            <a:srgbClr val="D9F0E3"/>
          </a:solidFill>
          <a:ln w="25400">
            <a:solidFill>
              <a:srgbClr val="2E8B57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Processing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runs game in C; hardware checks collisions and renders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818120" y="2304288"/>
            <a:ext cx="457200" cy="0"/>
          </a:xfrm>
          <a:prstGeom prst="line">
            <a:avLst/>
          </a:prstGeom>
          <a:noFill/>
          <a:ln w="38100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321040" y="1508760"/>
            <a:ext cx="3383280" cy="1600200"/>
          </a:xfrm>
          <a:prstGeom prst="rect">
            <a:avLst/>
          </a:prstGeom>
          <a:solidFill>
            <a:srgbClr val="FDEBD0"/>
          </a:solidFill>
          <a:ln w="25400">
            <a:solidFill>
              <a:srgbClr val="E67E22"/>
            </a:solidFill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22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VGA monitor: maze, tanks, bullets, health hearts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34290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7200" y="3931920"/>
            <a:ext cx="11247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Stalls: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32-clock divide must freeze pipeline, no double write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Signed/unsigned: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MULH variants, ÷0, INT_MIN ÷ −1 overflow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wait + forwarding + branch squash together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•"/>
            </a:pPr>
            <a:r>
              <a:rPr lang="en-US" sz="2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FPGA timing: </a:t>
            </a:r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33×33 multiplier path at 50 MHz; VGA sync alignment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DIV/REM multi-cycle timing</a:t>
            </a:r>
            <a:endParaRPr lang="en-US" sz="3000" dirty="0"/>
          </a:p>
        </p:txBody>
      </p:sp>
      <p:pic>
        <p:nvPicPr>
          <p:cNvPr id="3" name="Image 0" descr="/workspace/battle_tanks_diagrams/timing/out/02_rv32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11430000" cy="407791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530352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→ 32 busy clocks (pipeline_stall = 1) → done → write-back</a:t>
            </a:r>
            <a:endParaRPr lang="en-US" sz="20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÷0 and INT_MIN ÷ −1 bypass the iterations, no exception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Backup: full system block diagram</a:t>
            </a:r>
            <a:endParaRPr lang="en-US" sz="3000" dirty="0"/>
          </a:p>
        </p:txBody>
      </p:sp>
      <p:pic>
        <p:nvPicPr>
          <p:cNvPr id="3" name="Image 0" descr="/workspace/battle_tanks_diagrams/out/fig1_top_le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11430000" cy="52180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Battle Tanks - RV32IM FPGA project</dc:title>
  <dc:subject>PptxGenJS Presentation</dc:subject>
  <dc:creator>PptxGenJS</dc:creator>
  <cp:lastModifiedBy>PptxGenJS</cp:lastModifiedBy>
  <cp:revision>1</cp:revision>
  <dcterms:created xsi:type="dcterms:W3CDTF">2026-10-13T07:44:08Z</dcterms:created>
  <dcterms:modified xsi:type="dcterms:W3CDTF">2026-10-13T07:44:08Z</dcterms:modified>
</cp:coreProperties>
</file>